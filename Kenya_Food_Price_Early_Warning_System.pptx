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av" ContentType="audio/x-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(KES/kg)</c:v>
                </c:pt>
              </c:strCache>
            </c:strRef>
          </c:tx>
          <c:spPr>
            <a:solidFill>
              <a:srgbClr val="6F8F52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2C4A2E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30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Per-Pair LSTM</c:v>
                </c:pt>
                <c:pt idx="1">
                  <c:v>Pooled LSTM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15.43</c:v>
                </c:pt>
                <c:pt idx="1">
                  <c:v>6.03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09245952"/>
        <c:axId val="309238504"/>
      </c:barChart>
      <c:catAx>
        <c:axId val="309245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566"/>
                </a:solidFill>
                <a:latin typeface="Arial"/>
              </a:defRPr>
            </a:pPr>
            <a:endParaRPr lang="en-US"/>
          </a:p>
        </c:txPr>
        <c:crossAx val="309238504"/>
        <c:crosses val="autoZero"/>
        <c:auto val="1"/>
        <c:lblAlgn val="ctr"/>
        <c:lblOffset val="100"/>
        <c:noMultiLvlLbl val="1"/>
      </c:catAx>
      <c:valAx>
        <c:axId val="30923850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0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66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566"/>
                    </a:solidFill>
                    <a:latin typeface="Arial"/>
                  </a:rPr>
                  <a:t>MAE (KES / kg)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6"/>
                </a:solidFill>
                <a:latin typeface="Arial"/>
              </a:defRPr>
            </a:pPr>
            <a:endParaRPr lang="en-US"/>
          </a:p>
        </c:txPr>
        <c:crossAx val="309245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4000">
    <p:push dir="u"/>
    <p:sndAc>
      <p:stSnd>
        <p:snd r:embed="rId1" name="applause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 advClick="0" advTm="4000">
    <p:push dir="u"/>
    <p:sndAc>
      <p:stSnd>
        <p:snd r:embed="rId3" name="applause.wav"/>
      </p:stSnd>
    </p:sndAc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E1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926080"/>
            <a:ext cx="7315200" cy="731520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6F8F52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 FOOD PRICE EARLY WARNING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staple food prices across Kenyan markets to give farmers, traders,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food security actors the early signal they currently lack.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1280160" cy="0"/>
          </a:xfrm>
          <a:prstGeom prst="line">
            <a:avLst/>
          </a:prstGeom>
          <a:noFill/>
          <a:ln w="25400">
            <a:solidFill>
              <a:srgbClr val="D9B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</a:t>
            </a:r>
            <a:r>
              <a:rPr lang="en-US" sz="1300" dirty="0" smtClean="0">
                <a:solidFill>
                  <a:srgbClr val="D9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Quintet Members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  |  WFP &amp; NASA POWER Data</a:t>
            </a:r>
            <a:endParaRPr lang="en-US" sz="11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pipeline: from raw market data to a forecast a farmer can act 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" y="2377440"/>
            <a:ext cx="822960" cy="82296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6" name="Text 4"/>
          <p:cNvSpPr/>
          <p:nvPr/>
        </p:nvSpPr>
        <p:spPr>
          <a:xfrm>
            <a:off x="16687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353159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</a:t>
            </a: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1 </a:t>
            </a:r>
            <a:b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Otieno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+ NASA POWER ingestion, cleaning, unit standardization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9659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3420" y="2377440"/>
            <a:ext cx="822960" cy="82296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4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</a:t>
            </a: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b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Kelvin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2062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baseline, Prophet, and LSTM forecasting tracks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9659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8060" y="2377440"/>
            <a:ext cx="822960" cy="82296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3806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</a:t>
            </a: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  <a:p>
            <a:pPr marL="0" indent="0" algn="ctr">
              <a:buNone/>
            </a:pP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</a:rPr>
              <a:t>Steve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42062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Residual-based early warning and shock backtesting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6880" y="19659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72700" y="2377440"/>
            <a:ext cx="822960" cy="82296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270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0976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</a:t>
            </a: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</a:p>
          <a:p>
            <a:pPr marL="0" indent="0" algn="ctr">
              <a:buNone/>
            </a:pPr>
            <a:r>
              <a:rPr lang="en-US" sz="1500" b="1" dirty="0" smtClean="0">
                <a:solidFill>
                  <a:srgbClr val="22301F"/>
                </a:solidFill>
                <a:latin typeface="Cambria" pitchFamily="34" charset="0"/>
                <a:ea typeface="Cambria" pitchFamily="34" charset="-122"/>
              </a:rPr>
              <a:t>Angello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55480" y="42062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and pipeline automation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slow">
    <p:push dir="r"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6309360" cy="1874520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459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Farmers, traders, and food security institutions largely make decisions on current or historical prices — not forecasts.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1572768"/>
            <a:ext cx="256032" cy="256032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sell / buy timing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early and miss better prices, or hold and risk a drop.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06640" y="310896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3310128"/>
            <a:ext cx="256032" cy="256032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Avoidable inventory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and millers decide when to buy, store, or release stock, blind to what's ahead.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48463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5047488"/>
            <a:ext cx="256032" cy="256032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institutional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5394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and interventions arrive only after a shortage or spike is already visible.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is not a lack of data — Kenya already publishes market prices through WFP and HDX. What's missing is a system that combines that history with external drivers, like weather, to produce forecasts and early warnings at the market level.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 that turns historical prices and weather into forward-looking signals.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67128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48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Forward-looking price visibility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6974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commodity prices two to three months ahead, per market.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87452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2167128"/>
            <a:ext cx="457200" cy="45720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2148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shock detection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6974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when actual prices start diverging meaningfully from what's expected.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498848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4805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market intelligence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50292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forecasts and trends through a dashboard non-technical stakeholders can 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420624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4498848"/>
            <a:ext cx="457200" cy="45720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6640" y="44805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at 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50292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signal to inform reserves, subsidies, procurement, and humanitarian response.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one pipeline: data in, models trained, signal delivered.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375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71700" y="228600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6" name="Text 4"/>
          <p:cNvSpPr/>
          <p:nvPr/>
        </p:nvSpPr>
        <p:spPr>
          <a:xfrm>
            <a:off x="21717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WFP food prices with NASA POWER weather by market and date; clean, scope, and standardize units to price-per-kg.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78808" y="35204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F8F5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26280" y="1965960"/>
            <a:ext cx="3337560" cy="3657600"/>
          </a:xfrm>
          <a:prstGeom prst="rect">
            <a:avLst/>
          </a:prstGeom>
          <a:solidFill>
            <a:srgbClr val="2C4A2E"/>
          </a:solidFill>
          <a:ln w="12700">
            <a:solidFill>
              <a:srgbClr val="2C4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457200" cy="45720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12" name="Text 10"/>
          <p:cNvSpPr/>
          <p:nvPr/>
        </p:nvSpPr>
        <p:spPr>
          <a:xfrm>
            <a:off x="58750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3017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46320" y="37490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DC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naive baseline, Prophet, and LSTM (per-pair and pooled); route each pair to whichever forecast earns its place.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82128" y="35204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F8F5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3375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78340" y="228600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8" name="Text 16"/>
          <p:cNvSpPr/>
          <p:nvPr/>
        </p:nvSpPr>
        <p:spPr>
          <a:xfrm>
            <a:off x="95783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3017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&amp; Deployment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49640" y="37490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residual price shocks in real time and surface everything through an automated Streamlit dashboard.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2E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M.V.P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system that still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someone whether to worry.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49240" y="105156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6" name="Text 4"/>
          <p:cNvSpPr/>
          <p:nvPr/>
        </p:nvSpPr>
        <p:spPr>
          <a:xfrm>
            <a:off x="53492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89320" y="96012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persistence forecast — next month's price = this month's, the bar every model must beat.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49240" y="274320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89320" y="265176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residual-based anomaly detector, flagging prices that diverge more than 2σ from their own market history.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49240" y="443484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89320" y="434340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where a user picks a market and commodity and sees the expected price and current alert status.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data, open-source modelling, one deployable app.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3520440" cy="594360"/>
          </a:xfrm>
          <a:prstGeom prst="rect">
            <a:avLst/>
          </a:prstGeom>
          <a:solidFill>
            <a:srgbClr val="6F8F5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11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962656"/>
            <a:ext cx="91440" cy="9144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807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/ HDX food prices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465576"/>
            <a:ext cx="91440" cy="9144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310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weather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11680"/>
            <a:ext cx="3520440" cy="594360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011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Modelling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2962656"/>
            <a:ext cx="91440" cy="9144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807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465576"/>
            <a:ext cx="91440" cy="9144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310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968496"/>
            <a:ext cx="91440" cy="9144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3813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4471416"/>
            <a:ext cx="91440" cy="9144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4315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(LSTM)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201168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2011680"/>
            <a:ext cx="3520440" cy="594360"/>
          </a:xfrm>
          <a:prstGeom prst="rect">
            <a:avLst/>
          </a:prstGeom>
          <a:solidFill>
            <a:srgbClr val="D9B872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2011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78240" y="2962656"/>
            <a:ext cx="91440" cy="9144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2807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3465576"/>
            <a:ext cx="91440" cy="9144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3310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problems, solved before a single model was trained.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166360" cy="1298448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1024128" y="2167128"/>
            <a:ext cx="201168" cy="20116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commodity labels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alone appeared under five separate labels — needed care to keep products genuinely distinct rather than merged.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65960"/>
            <a:ext cx="5166360" cy="1298448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6647688" y="2167128"/>
            <a:ext cx="201168" cy="20116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price units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4231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1,480 KES means something different for a kilogram versus a 90kg sack; every unit had to be mapped to a kg-equivalent.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465576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65576"/>
            <a:ext cx="5166360" cy="1298448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1024128" y="3666744"/>
            <a:ext cx="201168" cy="20116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557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 reporting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92277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series only began consistent reporting in late 2023, so a single completeness cutoff would unfairly penalize newer pairs.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3465576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465576"/>
            <a:ext cx="5166360" cy="1298448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6647688" y="3666744"/>
            <a:ext cx="201168" cy="20116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557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weather signal at scale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92277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promising single-market rainfall correlation did not hold once tested across all 133 shortlisted pairs.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965192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65192"/>
            <a:ext cx="5166360" cy="1298448"/>
          </a:xfrm>
          <a:prstGeom prst="rect">
            <a:avLst/>
          </a:prstGeom>
          <a:ln/>
        </p:spPr>
      </p:sp>
      <p:sp>
        <p:nvSpPr>
          <p:cNvPr id="26" name="Shape 24"/>
          <p:cNvSpPr/>
          <p:nvPr/>
        </p:nvSpPr>
        <p:spPr>
          <a:xfrm>
            <a:off x="1024128" y="5166360"/>
            <a:ext cx="201168" cy="20116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5056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Beating naive in aggregate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54223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 of pairs individually beat or tie the naive baseline, yet the aggregate error barely moves — an honest, not flattering, result.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4965192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965192"/>
            <a:ext cx="5166360" cy="1298448"/>
          </a:xfrm>
          <a:prstGeom prst="rect">
            <a:avLst/>
          </a:prstGeom>
          <a:ln/>
        </p:spPr>
      </p:sp>
      <p:sp>
        <p:nvSpPr>
          <p:cNvPr id="31" name="Shape 29"/>
          <p:cNvSpPr/>
          <p:nvPr/>
        </p:nvSpPr>
        <p:spPr>
          <a:xfrm>
            <a:off x="6647688" y="5166360"/>
            <a:ext cx="201168" cy="20116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5056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availability gaps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54223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 (Tana River) has no coordinates in the source data, so it was excluded from the weather join rather than imputed.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naive baseline and against real, documented price shocks.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 cuts short-history error by ~60%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205740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9164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8013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549640" y="180136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pairs individually beat or tie the naive baseline on held-out test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329184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34015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 vs 9.7%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549640" y="340156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 rate inside documented shock windows vs. the detector's own baseline (~3×)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489204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50017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8549640" y="500176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market-commodity pairs forecast, across 26 markets and 14 commodities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the aggregate mean blended MAE (6.57) is marginally worse than aggregate naive MAE (6.55) — most individual wins are exact ties, not clear beats.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Streamlit dashboard, four views, no leaving the page.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7F"/>
                </a:solidFill>
              </a:rPr>
              <a:t>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7F"/>
                </a:solidFill>
              </a:rPr>
              <a:t>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7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— forecasts.csv &amp; price_history.csv 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51560" y="246888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alert 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816352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 plotted, colored by current flagged / not-flagged status.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3720" y="2423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Filterable pair 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2816352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market-commodity pair with its forecast, naive comparison, and alert flag.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1560" y="420624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Price-history detail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553712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expected price for one pair, shocks marked, same view used in evaluation.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4553712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rate, model win rate, and coverage at a glance.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next, in order.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71700" y="2468880"/>
            <a:ext cx="457200" cy="457200"/>
          </a:xfrm>
          <a:prstGeom prst="ellipse">
            <a:avLst/>
          </a:prstGeom>
          <a:solidFill>
            <a:srgbClr val="6F8F52"/>
          </a:solidFill>
          <a:ln/>
        </p:spPr>
      </p:sp>
      <p:sp>
        <p:nvSpPr>
          <p:cNvPr id="6" name="Text 4"/>
          <p:cNvSpPr/>
          <p:nvPr/>
        </p:nvSpPr>
        <p:spPr>
          <a:xfrm>
            <a:off x="21717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deployment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384048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generate_forecasts.py and deploy to Streamlit Community Cloud, verified on phone and laptop.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2011680"/>
            <a:ext cx="33375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5020" y="2468880"/>
            <a:ext cx="457200" cy="45720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11" name="Text 9"/>
          <p:cNvSpPr/>
          <p:nvPr/>
        </p:nvSpPr>
        <p:spPr>
          <a:xfrm>
            <a:off x="58750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 forecasting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the same pipeline against pricetype == "Wholesale", relevant to traders, millers, and NCPB.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3375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0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78340" y="2468880"/>
            <a:ext cx="457200" cy="457200"/>
          </a:xfrm>
          <a:prstGeom prst="ellipse">
            <a:avLst/>
          </a:prstGeom>
          <a:solidFill>
            <a:srgbClr val="D9B872"/>
          </a:solidFill>
          <a:ln/>
        </p:spPr>
      </p:sp>
      <p:sp>
        <p:nvSpPr>
          <p:cNvPr id="16" name="Text 14"/>
          <p:cNvSpPr/>
          <p:nvPr/>
        </p:nvSpPr>
        <p:spPr>
          <a:xfrm>
            <a:off x="95783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iteration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384048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more pairs past the 0.5 validation-weight threshold so real model wins compound in aggregate.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Food Price Early Warning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E1C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4" name="Shape 2"/>
          <p:cNvSpPr/>
          <p:nvPr/>
        </p:nvSpPr>
        <p:spPr>
          <a:xfrm>
            <a:off x="8076895" y="2743200"/>
            <a:ext cx="6400800" cy="6400800"/>
          </a:xfrm>
          <a:prstGeom prst="ellipse">
            <a:avLst/>
          </a:prstGeom>
          <a:solidFill>
            <a:srgbClr val="2C4A2E"/>
          </a:solidFill>
          <a:ln/>
        </p:spPr>
      </p:sp>
      <p:sp>
        <p:nvSpPr>
          <p:cNvPr id="5" name="Shape 3"/>
          <p:cNvSpPr/>
          <p:nvPr/>
        </p:nvSpPr>
        <p:spPr>
          <a:xfrm>
            <a:off x="4632808" y="1965960"/>
            <a:ext cx="2926080" cy="292608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/>
          <p:nvPr/>
        </p:nvSpPr>
        <p:spPr>
          <a:xfrm>
            <a:off x="4632808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352648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1400" i="1" dirty="0" smtClean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1400" dirty="0"/>
          </a:p>
        </p:txBody>
      </p:sp>
    </p:spTree>
  </p:cSld>
  <p:clrMapOvr>
    <a:masterClrMapping/>
  </p:clrMapOvr>
  <p:transition spd="slow" advClick="0" advTm="4000">
    <p:push dir="u"/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1062</Words>
  <Application>Microsoft Office PowerPoint</Application>
  <PresentationFormat>Widescreen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2026-09-14T07:28:56Z</dcterms:created>
  <dcterms:modified xsi:type="dcterms:W3CDTF">2026-09-14T08:01:42Z</dcterms:modified>
</cp:coreProperties>
</file>