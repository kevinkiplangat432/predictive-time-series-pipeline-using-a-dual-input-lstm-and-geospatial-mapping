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0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474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32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schema also includes admin1/admin2 region, commodity_id, priceflag, currency. Weather variables (NASA POWER): T2M, T2M_MAX/MIN, RH2M, PRECTOTCORR.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89967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3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4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2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6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0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2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4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229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20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7159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09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63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9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2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Kenya Food Price Early Warning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1600"/>
            </a:pPr>
            <a:r>
              <a:t>A Data Science Capstone Project</a:t>
            </a:r>
          </a:p>
          <a:p>
            <a:pPr>
              <a:defRPr sz="1600"/>
            </a:pPr>
            <a:r>
              <a:t>Forecasting staple food prices across Kenyan markets to give farmers, traders, and food security actors an early signal</a:t>
            </a:r>
          </a:p>
          <a:p>
            <a:pPr>
              <a:defRPr sz="1600"/>
            </a:pPr>
            <a:r>
              <a:t>Presented by [Presenter Name]</a:t>
            </a:r>
          </a:p>
          <a:p>
            <a:pPr>
              <a:defRPr sz="1600"/>
            </a:pPr>
            <a:r>
              <a:t>Data: WFP Kenya Food Prices (HDX)  •  NASA POWER Weather API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— CRISP-DM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1. Business Understanding</a:t>
            </a:r>
          </a:p>
          <a:p>
            <a:pPr>
              <a:defRPr sz="2000"/>
            </a:pPr>
            <a:r>
              <a:t>2. Data Understanding</a:t>
            </a:r>
          </a:p>
          <a:p>
            <a:pPr>
              <a:defRPr sz="2000"/>
            </a:pPr>
            <a:r>
              <a:t>3. Data Preparation</a:t>
            </a:r>
          </a:p>
          <a:p>
            <a:pPr>
              <a:defRPr sz="2000"/>
            </a:pPr>
            <a:r>
              <a:t>4. Modelling</a:t>
            </a:r>
          </a:p>
          <a:p>
            <a:pPr>
              <a:defRPr sz="2000"/>
            </a:pPr>
            <a:r>
              <a:t>5. Evaluation</a:t>
            </a:r>
          </a:p>
          <a:p>
            <a:pPr>
              <a:defRPr sz="2000"/>
            </a:pPr>
            <a:r>
              <a:t>6. Key Insights</a:t>
            </a:r>
          </a:p>
          <a:p>
            <a:pPr>
              <a:defRPr sz="2000"/>
            </a:pPr>
            <a:r>
              <a:t>7. Recommendations</a:t>
            </a:r>
          </a:p>
          <a:p>
            <a:pPr>
              <a:defRPr sz="2000"/>
            </a:pPr>
            <a:r>
              <a:t>8. Limitations</a:t>
            </a:r>
          </a:p>
          <a:p>
            <a:pPr>
              <a:defRPr sz="2000"/>
            </a:pPr>
            <a:r>
              <a:t>9. Conclusion &amp; Next Steps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Farmers decide when to sell without knowing which way prices are heading</a:t>
            </a:r>
          </a:p>
          <a:p>
            <a:pPr>
              <a:defRPr sz="2000"/>
            </a:pPr>
            <a:r>
              <a:t>Traders and institutions often react to shortages only once they are visible</a:t>
            </a:r>
          </a:p>
          <a:p>
            <a:pPr>
              <a:defRPr sz="2000"/>
            </a:pPr>
            <a:r>
              <a:t>Kenya has rich historical price data, but it explains the past, not the future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project turns historical prices + weather data into a forward-looking signal</a:t>
            </a:r>
          </a:p>
          <a:p>
            <a:pPr>
              <a:defRPr sz="2000"/>
            </a:pPr>
            <a:r>
              <a:t>Goal: show where prices are likely to move, and flag unusual changes early</a:t>
            </a:r>
          </a:p>
          <a:p>
            <a:pPr>
              <a:defRPr sz="2000"/>
            </a:pPr>
            <a:r>
              <a:t>This refines how the goal is achieved — the original mission (early visibility into food price changes) is unchanged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This System Serves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/>
            </a:pPr>
            <a:r>
              <a:t>Smallholder farmers &amp; cooperatives — decide when and how much to sell</a:t>
            </a:r>
          </a:p>
          <a:p>
            <a:pPr>
              <a:defRPr sz="2000"/>
            </a:pPr>
            <a:r>
              <a:t>Traders &amp; intermediaries — manage inventory and buy/sell timing</a:t>
            </a:r>
          </a:p>
          <a:p>
            <a:pPr>
              <a:defRPr sz="2000"/>
            </a:pPr>
            <a:r>
              <a:t>County offices &amp; NDMA — early signals of localized food stress</a:t>
            </a:r>
          </a:p>
          <a:p>
            <a:pPr>
              <a:defRPr sz="2000"/>
            </a:pPr>
            <a:r>
              <a:t>NGOs &amp; humanitarian organizations — plan procurement and cash interventions</a:t>
            </a:r>
          </a:p>
          <a:p>
            <a:pPr>
              <a:defRPr sz="2000"/>
            </a:pPr>
            <a:r>
              <a:t>National Cereals &amp; Produce Board — strategic reserve and release decisions</a:t>
            </a:r>
          </a:p>
          <a:p>
            <a:pPr>
              <a:defRPr sz="2000"/>
            </a:pPr>
            <a:r>
              <a:t>Urban &amp; low-income households — anticipate rising staple food costs</a:t>
            </a:r>
          </a:p>
          <a:p>
            <a:pPr>
              <a:defRPr sz="2000"/>
            </a:pPr>
            <a:r>
              <a:t>Food processors &amp; millers — predictable input costs for planning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Forecast commodity prices 2–3 months ahead for individual markets</a:t>
            </a:r>
          </a:p>
          <a:p>
            <a:pPr>
              <a:defRPr sz="2000"/>
            </a:pPr>
            <a:r>
              <a:t>Detect emerging price shocks as they begin to unfold</a:t>
            </a:r>
          </a:p>
          <a:p>
            <a:pPr>
              <a:defRPr sz="2000"/>
            </a:pPr>
            <a:r>
              <a:t>Present forecasts through a simple, non-technical dashboard</a:t>
            </a:r>
          </a:p>
          <a:p>
            <a:pPr>
              <a:defRPr sz="2000"/>
            </a:pPr>
            <a:r>
              <a:t>Support institutional decisions on reserves, subsidies, and response</a:t>
            </a:r>
          </a:p>
          <a:p>
            <a:pPr>
              <a:defRPr sz="2000"/>
            </a:pPr>
            <a:r>
              <a:t>Build a reproducible, automated pipeline end to 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Forecasts beat a simple baseline (last price / seasonal average)</a:t>
            </a:r>
          </a:p>
          <a:p>
            <a:pPr>
              <a:defRPr sz="2000"/>
            </a:pPr>
            <a:r>
              <a:t>Anomaly detection catches real shocks without excessive false alarms</a:t>
            </a:r>
          </a:p>
          <a:p>
            <a:pPr>
              <a:defRPr sz="2000"/>
            </a:pPr>
            <a:r>
              <a:t>A non-technical user can read expected price &amp; alert status at a glance</a:t>
            </a:r>
          </a:p>
          <a:p>
            <a:pPr>
              <a:defRPr sz="2000"/>
            </a:pPr>
            <a:r>
              <a:t>The pipeline is reproducible and refreshable with minimal manual work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 Guiding the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H1 — Maize prices follow a seasonal pattern around harvest periods</a:t>
            </a:r>
          </a:p>
          <a:p>
            <a:pPr>
              <a:defRPr sz="2000"/>
            </a:pPr>
            <a:r>
              <a:t>H2 — Rainfall has a measurable lagged relationship with future prices</a:t>
            </a:r>
          </a:p>
          <a:p>
            <a:pPr>
              <a:defRPr sz="2000"/>
            </a:pPr>
            <a:r>
              <a:t>H3 — Price patterns differ significantly between markets</a:t>
            </a:r>
          </a:p>
          <a:p>
            <a:pPr>
              <a:defRPr sz="2000"/>
            </a:pPr>
            <a:r>
              <a:t>H4 — Maize and bean prices are related as staple substitutes</a:t>
            </a:r>
          </a:p>
          <a:p>
            <a:pPr>
              <a:defRPr sz="2000"/>
            </a:pPr>
            <a:r>
              <a:t>H5 — Price volatility increases during drought periods</a:t>
            </a:r>
          </a:p>
          <a:p>
            <a:pPr>
              <a:defRPr sz="2000"/>
            </a:pPr>
            <a:r>
              <a:t>H6 — Wholesale price changes reach retail within 1–2 weeks</a:t>
            </a:r>
          </a:p>
          <a:p>
            <a:pPr>
              <a:defRPr sz="2000"/>
            </a:pPr>
            <a:r>
              <a:t>These are revisited honestly — supported, rejected, or untested — in Key 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WFP Kenya Food Prices (HDX):</a:t>
            </a:r>
          </a:p>
          <a:p>
            <a:pPr lvl="1">
              <a:defRPr sz="1600"/>
            </a:pPr>
            <a:r>
              <a:t>27,763 price observations</a:t>
            </a:r>
          </a:p>
          <a:p>
            <a:pPr lvl="1">
              <a:defRPr sz="1600"/>
            </a:pPr>
            <a:r>
              <a:t>226 markets  •  51 commodities</a:t>
            </a:r>
          </a:p>
          <a:p>
            <a:pPr lvl="1">
              <a:defRPr sz="1600"/>
            </a:pPr>
            <a:r>
              <a:t>Date range: January 2006 – August 2026</a:t>
            </a:r>
          </a:p>
          <a:p>
            <a:pPr>
              <a:defRPr sz="2000"/>
            </a:pPr>
            <a:r>
              <a:t>NASA POWER Weather API:</a:t>
            </a:r>
          </a:p>
          <a:p>
            <a:pPr lvl="1">
              <a:defRPr sz="1600"/>
            </a:pPr>
            <a:r>
              <a:t>Daily rainfall and temperature by market coordinates</a:t>
            </a:r>
          </a:p>
          <a:p>
            <a:pPr lvl="1">
              <a:defRPr sz="1600"/>
            </a:pPr>
            <a:r>
              <a:t>Used to test whether weather can improve price forecasts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Fields in the Price Dataset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2865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Example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Date of the price 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2006-01-15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market / market_id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Local market name and unique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Mombasa, 191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latitude / longitude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Market site coordinates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-4.05, 39.67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commodity /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Specific food item and broad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Maize (white), cereals &amp; tubers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Unit of measurement for the price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KG, 90 KG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pricetype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Level of trade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Wholesale, Retail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price / usdprice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Price in KES and USD equivalent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1,480.00 / 20.58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Coverage: Top Commodities &amp; Markets by Observations</a:t>
            </a:r>
          </a:p>
        </p:txBody>
      </p:sp>
      <p:pic>
        <p:nvPicPr>
          <p:cNvPr id="3" name="Picture 2" descr="cell_3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31512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Maize and beans lead commodity coverage; Nairobi and a handful of major markets carry the largest number of price observations.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National Average Maize Price Over Time</a:t>
            </a:r>
          </a:p>
        </p:txBody>
      </p:sp>
      <p:pic>
        <p:nvPicPr>
          <p:cNvPr id="3" name="Picture 2" descr="cell_3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1619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Long-term upward trend with repeated volatility spikes, rather than a stable plateau.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Seasonality and Data Coverage</a:t>
            </a:r>
          </a:p>
        </p:txBody>
      </p:sp>
      <p:pic>
        <p:nvPicPr>
          <p:cNvPr id="3" name="Picture 2" descr="cell_3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94960" cy="2977863"/>
          </a:xfrm>
          <a:prstGeom prst="rect">
            <a:avLst/>
          </a:prstGeom>
        </p:spPr>
      </p:pic>
      <p:pic>
        <p:nvPicPr>
          <p:cNvPr id="4" name="Picture 3" descr="cell_3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94960" cy="2565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Left: mild recurring seasonal shape across the year (early support for H1). Right: data coverage by market and year — red indicates missing data.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Weather as a Candidate Signal</a:t>
            </a:r>
          </a:p>
        </p:txBody>
      </p:sp>
      <p:pic>
        <p:nvPicPr>
          <p:cNvPr id="3" name="Picture 2" descr="cell_4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94960" cy="1890823"/>
          </a:xfrm>
          <a:prstGeom prst="rect">
            <a:avLst/>
          </a:prstGeom>
        </p:spPr>
      </p:pic>
      <p:pic>
        <p:nvPicPr>
          <p:cNvPr id="4" name="Picture 3" descr="cell_5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94960" cy="2969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Kenya's bimodal rainfall pattern is visible and credible. The lag correlation shown here used only one year of Nairobi data — flagged as preliminary and re-tested at full scale in Data Preparation.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Commodity labels: maize appears under different labels — to be consolidated</a:t>
            </a:r>
          </a:p>
          <a:p>
            <a:pPr>
              <a:defRPr sz="2000"/>
            </a:pPr>
            <a:r>
              <a:t>Duplicates: none found at market, commodity, date, and price-type level</a:t>
            </a:r>
          </a:p>
          <a:p>
            <a:pPr>
              <a:defRPr sz="2000"/>
            </a:pPr>
            <a:r>
              <a:t>Outliers: a small number of maize price points flagged via IQR — reviewed, not auto-removed</a:t>
            </a:r>
          </a:p>
          <a:p>
            <a:pPr>
              <a:defRPr sz="2000"/>
            </a:pPr>
            <a:r>
              <a:t>Market coordinates: one market missing lat/long — excluded from the weather join</a:t>
            </a:r>
          </a:p>
          <a:p>
            <a:pPr>
              <a:defRPr sz="2000"/>
            </a:pPr>
            <a:r>
              <a:t>Date coverage: spans January 2006 to August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&amp; Scoping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Retail prices selected as the primary modelling target</a:t>
            </a:r>
          </a:p>
          <a:p>
            <a:pPr lvl="1">
              <a:defRPr sz="1600"/>
            </a:pPr>
            <a:r>
              <a:t>Closest price level to what households and small traders experience</a:t>
            </a:r>
          </a:p>
          <a:p>
            <a:pPr lvl="1">
              <a:defRPr sz="1600"/>
            </a:pPr>
            <a:r>
              <a:t>Wholesale prices reserved for a future extension</a:t>
            </a:r>
          </a:p>
          <a:p>
            <a:pPr>
              <a:defRPr sz="2000"/>
            </a:pPr>
            <a:r>
              <a:t>Items excluded, with reasons:</a:t>
            </a:r>
          </a:p>
          <a:p>
            <a:pPr lvl="1">
              <a:defRPr sz="1600"/>
            </a:pPr>
            <a:r>
              <a:t>Fuel (diesel/petrol) — different market dynamics from food commodities</a:t>
            </a:r>
          </a:p>
          <a:p>
            <a:pPr lvl="1">
              <a:defRPr sz="1600"/>
            </a:pPr>
            <a:r>
              <a:t>Milk, oil, bananas — priced by volume/count, not comparable per kg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Shortlist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2,021 candidate market–commodity pairs screened for completeness &amp; history</a:t>
            </a:r>
          </a:p>
          <a:p>
            <a:pPr>
              <a:defRPr sz="2000"/>
            </a:pPr>
            <a:r>
              <a:t>133 pairs passed completeness and history-length filters</a:t>
            </a:r>
          </a:p>
          <a:p>
            <a:pPr>
              <a:defRPr sz="2000"/>
            </a:pPr>
            <a:r>
              <a:t>Split into two modelling tracks:</a:t>
            </a:r>
          </a:p>
          <a:p>
            <a:pPr lvl="1">
              <a:defRPr sz="1600"/>
            </a:pPr>
            <a:r>
              <a:t>100 long-history pairs → Prophet track</a:t>
            </a:r>
          </a:p>
          <a:p>
            <a:pPr lvl="1">
              <a:defRPr sz="1600"/>
            </a:pPr>
            <a:r>
              <a:t>33 recent-only pairs → LSTM track</a:t>
            </a:r>
          </a:p>
          <a:p>
            <a:pPr>
              <a:defRPr sz="2000"/>
            </a:pPr>
            <a:r>
              <a:t>Final shortlist: 133 pairs across 26 markets and 14 commodities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Flagged price points were classified, not deleted:</a:t>
            </a:r>
          </a:p>
          <a:p>
            <a:pPr lvl="1">
              <a:defRPr sz="1600"/>
            </a:pPr>
            <a:r>
              <a:t>45 — Persistent shift: a genuine, lasting change in price level — retained as-is</a:t>
            </a:r>
          </a:p>
          <a:p>
            <a:pPr lvl="1">
              <a:defRPr sz="1600"/>
            </a:pPr>
            <a:r>
              <a:t>22 — Transient spike: a short-lived jump consistent with a real shock — retained, later used to build the anomaly detector</a:t>
            </a:r>
          </a:p>
          <a:p>
            <a:pPr lvl="1">
              <a:defRPr sz="1600"/>
            </a:pPr>
            <a:r>
              <a:t>2 — Insufficient data to classify confidently — handled with caution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Integration &amp; the Real Lag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/>
            </a:pPr>
            <a:r>
              <a:t>Weather retrieved per market from NASA POWER, aggregated monthly, joined by market and date</a:t>
            </a:r>
          </a:p>
          <a:p>
            <a:pPr>
              <a:defRPr sz="2000"/>
            </a:pPr>
            <a:r>
              <a:t>Preliminary read (Data Understanding): ≈0.64 correlation at a 4-month lag</a:t>
            </a:r>
          </a:p>
          <a:p>
            <a:pPr lvl="1">
              <a:defRPr sz="1600"/>
            </a:pPr>
            <a:r>
              <a:t>Based on one year of Nairobi rainfall vs. the full national price series — not a fair test</a:t>
            </a:r>
          </a:p>
          <a:p>
            <a:pPr>
              <a:defRPr sz="2000"/>
            </a:pPr>
            <a:r>
              <a:t>Full-scale test (proper, on the master table): ≈ -0.02 correlation at a 4-month lag</a:t>
            </a:r>
          </a:p>
          <a:p>
            <a:pPr lvl="1">
              <a:defRPr sz="1600"/>
            </a:pPr>
            <a:r>
              <a:t>Temperature also showed only a weak relationship (≈0.11)</a:t>
            </a:r>
          </a:p>
          <a:p>
            <a:pPr>
              <a:defRPr sz="2000"/>
            </a:pPr>
            <a:r>
              <a:t>This is a key example of a preliminary finding being corrected once tested properly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Table &amp; Train/Validation/Test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Master analytical table: 6,077 rows</a:t>
            </a:r>
          </a:p>
          <a:p>
            <a:pPr>
              <a:defRPr sz="2000"/>
            </a:pPr>
            <a:r>
              <a:t>Weather match rate: 98.98%</a:t>
            </a:r>
          </a:p>
          <a:p>
            <a:pPr>
              <a:defRPr sz="2000"/>
            </a:pPr>
            <a:r>
              <a:t>Feature engineering added lagged prices, rolling statistics, calendar features, and market/commodity identifiers</a:t>
            </a:r>
          </a:p>
          <a:p>
            <a:pPr>
              <a:defRPr sz="2000"/>
            </a:pPr>
            <a:r>
              <a:t>Chronological split (not random) to avoid training on future data:</a:t>
            </a:r>
          </a:p>
          <a:p>
            <a:pPr lvl="1">
              <a:defRPr sz="1600"/>
            </a:pPr>
            <a:r>
              <a:t>Train: 4,807 rows</a:t>
            </a:r>
          </a:p>
          <a:p>
            <a:pPr lvl="1">
              <a:defRPr sz="1600"/>
            </a:pPr>
            <a:r>
              <a:t>Validation: 622 rows</a:t>
            </a:r>
          </a:p>
          <a:p>
            <a:pPr lvl="1">
              <a:defRPr sz="1600"/>
            </a:pPr>
            <a:r>
              <a:t>Test: 648 rows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Target: price per kg, one month ahead</a:t>
            </a:r>
          </a:p>
          <a:p>
            <a:pPr>
              <a:defRPr sz="2000"/>
            </a:pPr>
            <a:r>
              <a:t>Naive Baseline — assumes next month's price equals this month's price</a:t>
            </a:r>
          </a:p>
          <a:p>
            <a:pPr>
              <a:defRPr sz="2000"/>
            </a:pPr>
            <a:r>
              <a:t>Prophet — a seasonal time-series model, fit independently per pair</a:t>
            </a:r>
          </a:p>
          <a:p>
            <a:pPr>
              <a:defRPr sz="2000"/>
            </a:pPr>
            <a:r>
              <a:t>LSTM (Neural Network) — a sequential deep-learning model, tested both per-pair and pooled with entity embeddings</a:t>
            </a:r>
          </a:p>
          <a:p>
            <a:pPr>
              <a:defRPr sz="2000"/>
            </a:pPr>
            <a:r>
              <a:t>All models compared against the same chronological validation and test sets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Pilot Series: Maize (White) in Kitui</a:t>
            </a:r>
          </a:p>
        </p:txBody>
      </p:sp>
      <p:pic>
        <p:nvPicPr>
          <p:cNvPr id="3" name="Picture 2" descr="cell_12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981693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180 monthly observations, used to build and sanity-check the full modelling pipeline before scaling to all 133 pairs.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Single-Series Results (Kitui Maize)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Naive Baseline: MAE 8.54</a:t>
            </a:r>
          </a:p>
          <a:p>
            <a:pPr>
              <a:defRPr sz="2000"/>
            </a:pPr>
            <a:r>
              <a:t>Prophet: MAE 7.00  (MAPE 19.7%)</a:t>
            </a:r>
          </a:p>
          <a:p>
            <a:pPr>
              <a:defRPr sz="2000"/>
            </a:pPr>
            <a:r>
              <a:t>LSTM: MAE 2.41  (MAPE 7.1%)</a:t>
            </a:r>
          </a:p>
          <a:p>
            <a:pPr>
              <a:defRPr sz="2000"/>
            </a:pPr>
            <a:r>
              <a:t>On this one series, LSTM clearly outperforms both Prophet and the naive baseline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 Scale: Pooled Entity-Embedding 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Tested across all 132 LSTM-track pairs, not just the Kitui pilot series:</a:t>
            </a:r>
          </a:p>
          <a:p>
            <a:pPr lvl="1">
              <a:defRPr sz="1600"/>
            </a:pPr>
            <a:r>
              <a:t>Per-pair LSTM (132 separate models): MAE 16.99</a:t>
            </a:r>
          </a:p>
          <a:p>
            <a:pPr lvl="1">
              <a:defRPr sz="1600"/>
            </a:pPr>
            <a:r>
              <a:t>Pooled model, no identity (ablation): MAE 8.81</a:t>
            </a:r>
          </a:p>
          <a:p>
            <a:pPr lvl="1">
              <a:defRPr sz="1600"/>
            </a:pPr>
            <a:r>
              <a:t>Pooled model + entity embedding: MAE 6.49</a:t>
            </a:r>
          </a:p>
          <a:p>
            <a:pPr>
              <a:defRPr sz="2000"/>
            </a:pPr>
            <a:r>
              <a:t>More than 50% error reduction from pooling + entity embeddings vs. per-pair models</a:t>
            </a:r>
          </a:p>
          <a:p>
            <a:pPr>
              <a:defRPr sz="2000"/>
            </a:pPr>
            <a:r>
              <a:t>The ablation confirms the gain comes from learning market/commodity identity, not just from pooling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validation-weighted router blends each model with naive per pair</a:t>
            </a:r>
          </a:p>
          <a:p>
            <a:pPr>
              <a:defRPr sz="2000"/>
            </a:pPr>
            <a:r>
              <a:t>Of 132 pairs:</a:t>
            </a:r>
          </a:p>
          <a:p>
            <a:pPr lvl="1">
              <a:defRPr sz="1600"/>
            </a:pPr>
            <a:r>
              <a:t>106 — pure naive (no model added value)</a:t>
            </a:r>
          </a:p>
          <a:p>
            <a:pPr lvl="1">
              <a:defRPr sz="1600"/>
            </a:pPr>
            <a:r>
              <a:t>26 — partial blend with a model</a:t>
            </a:r>
          </a:p>
          <a:p>
            <a:pPr lvl="1">
              <a:defRPr sz="1600"/>
            </a:pPr>
            <a:r>
              <a:t>0 — fully model-leaning</a:t>
            </a:r>
          </a:p>
          <a:p>
            <a:pPr>
              <a:defRPr sz="2000"/>
            </a:pPr>
            <a:r>
              <a:t>83.3% of pairs finish at or better than naive — but largely due to ties with naive, not clear model wins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Any Model Reliably Beat Naive?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Prophet — did not consistently beat naive once tested across the full pair set</a:t>
            </a:r>
          </a:p>
          <a:p>
            <a:pPr>
              <a:defRPr sz="2000"/>
            </a:pPr>
            <a:r>
              <a:t>Per-pair LSTM — best on the Kitui pilot series, far weaker on average across all 132 pairs (MAE 16.99)</a:t>
            </a:r>
          </a:p>
          <a:p>
            <a:pPr>
              <a:defRPr sz="2000"/>
            </a:pPr>
            <a:r>
              <a:t>Pooled LSTM — the strongest model overall (MAE 6.49), but still not a reliable, consistent win over naive at the individual-pair level</a:t>
            </a:r>
          </a:p>
          <a:p>
            <a:pPr>
              <a:defRPr sz="2000"/>
            </a:pPr>
            <a:r>
              <a:t>Conclusion: no model reliably beats naive per pair — persistence is itself a real, well-supported finding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Anomaly Detector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Method: flag a price as anomalous when it deviates more than 2 standard deviations from a naive expanding-window expectation</a:t>
            </a:r>
          </a:p>
          <a:p>
            <a:pPr>
              <a:defRPr sz="2000"/>
            </a:pPr>
            <a:r>
              <a:t>Baseline flag rate (all months): 9.7%</a:t>
            </a:r>
          </a:p>
          <a:p>
            <a:pPr>
              <a:defRPr sz="2000"/>
            </a:pPr>
            <a:r>
              <a:t>Flag rate during documented shocks: 27.6%  (~2.8x higher)</a:t>
            </a:r>
          </a:p>
          <a:p>
            <a:pPr>
              <a:defRPr sz="2000"/>
            </a:pPr>
            <a:r>
              <a:t>Validated against three real events: 2021–22 East Africa drought, 2022 Ukraine grain-market shock, 2022–23 Kenyan fuel subsidy removal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Anomaly Detection in Action: Sugar, Ethiopia (Kakuma)</a:t>
            </a:r>
          </a:p>
        </p:txBody>
      </p:sp>
      <p:pic>
        <p:nvPicPr>
          <p:cNvPr id="3" name="Picture 2" descr="cell_2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12445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Red points mark months flagged as anomalous during the 2022–23 fuel subsidy removal — the detector reacts within the shock window, not months after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Pooling + identity halves error — a single model that learns market/commodity identity outperforms hundreds of separate small models (MAE 6.49 vs 16.99)</a:t>
            </a:r>
          </a:p>
          <a:p>
            <a:pPr>
              <a:defRPr sz="2000"/>
            </a:pPr>
            <a:r>
              <a:t>No model reliably beats naive per pair — persistence remains a strong, hard-to-beat benchmark</a:t>
            </a:r>
          </a:p>
          <a:p>
            <a:pPr>
              <a:defRPr sz="2000"/>
            </a:pPr>
            <a:r>
              <a:t>The anomaly detector shows real signal — flags shock periods at nearly 3x the baseline rate</a:t>
            </a:r>
          </a:p>
          <a:p>
            <a:pPr>
              <a:defRPr sz="2000"/>
            </a:pPr>
            <a:r>
              <a:t>Scope decisions were principled — every exclusion (fuel, volume-priced items, sparse markets) was made on stated, defensible grounds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Hypotheses Revisited, Honestly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H1 — Seasonal maize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Mild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Modest peak mid-year, not a strong seasonal swing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H2 — Rainfall lag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Rejected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Preliminary 0.64 correlation did not hold at full scale (≈ -0.02)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H3 — Market-level price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Untested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Not formally tested in this phase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H4 — Maize/bean substitution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Untested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Flagged for future analysis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H5 — Drought-driven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Inconclusive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Related to anomaly findings, not directly isolated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H6 — Wholesale-to-retail 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Untested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Requires wholesale series, out of current scope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Deploy the anomaly detector first — the most validated, near-term-ready product</a:t>
            </a:r>
          </a:p>
          <a:p>
            <a:pPr>
              <a:defRPr sz="2000"/>
            </a:pPr>
            <a:r>
              <a:t>Prioritize humanitarian &amp; refugee-camp markets — best documented shock coverage, most acute stakeholder need</a:t>
            </a:r>
          </a:p>
          <a:p>
            <a:pPr>
              <a:defRPr sz="2000"/>
            </a:pPr>
            <a:r>
              <a:t>Frame forecasts as persistence-aware — present alongside the naive baseline so users understand when a forecast adds real information</a:t>
            </a:r>
          </a:p>
          <a:p>
            <a:pPr>
              <a:defRPr sz="2000"/>
            </a:pPr>
            <a:r>
              <a:t>Extend to wholesale prices next — would allow testing the retail-lag hypothesis (H6) and support NCPB/bulk-buyer decisions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t>Data:</a:t>
            </a:r>
          </a:p>
          <a:p>
            <a:pPr lvl="1">
              <a:defRPr sz="1600"/>
            </a:pPr>
            <a:r>
              <a:t>Most markets have short or sparse price histories</a:t>
            </a:r>
          </a:p>
          <a:p>
            <a:pPr lvl="1">
              <a:defRPr sz="1600"/>
            </a:pPr>
            <a:r>
              <a:t>Shock validation is biased toward refugee-camp markets</a:t>
            </a:r>
          </a:p>
          <a:p>
            <a:pPr lvl="1">
              <a:defRPr sz="1600"/>
            </a:pPr>
            <a:r>
              <a:t>Weather-price relationship is weaker than hoped</a:t>
            </a:r>
          </a:p>
          <a:p>
            <a:pPr>
              <a:defRPr sz="2000"/>
            </a:pPr>
            <a:r>
              <a:t>Modelling:</a:t>
            </a:r>
          </a:p>
          <a:p>
            <a:pPr lvl="1">
              <a:defRPr sz="1600"/>
            </a:pPr>
            <a:r>
              <a:t>No model reliably beats naive at the individual-pair level</a:t>
            </a:r>
          </a:p>
          <a:p>
            <a:pPr lvl="1">
              <a:defRPr sz="1600"/>
            </a:pPr>
            <a:r>
              <a:t>Pooled model gains are strong on average but uneven per pair</a:t>
            </a:r>
          </a:p>
          <a:p>
            <a:pPr lvl="1">
              <a:defRPr sz="1600"/>
            </a:pPr>
            <a:r>
              <a:t>Retail-only scope excludes wholesale dynamics (H6)</a:t>
            </a:r>
          </a:p>
          <a:p>
            <a:pPr>
              <a:defRPr sz="2000"/>
            </a:pPr>
            <a:r>
              <a:t>Deployment:</a:t>
            </a:r>
          </a:p>
          <a:p>
            <a:pPr lvl="1">
              <a:defRPr sz="1600"/>
            </a:pPr>
            <a:r>
              <a:t>No live dashboard or pipeline built yet</a:t>
            </a:r>
          </a:p>
          <a:p>
            <a:pPr lvl="1">
              <a:defRPr sz="1600"/>
            </a:pPr>
            <a:r>
              <a:t>Not yet tested with real end users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What Was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cleaned, joined price + weather master table across 133 pairs</a:t>
            </a:r>
          </a:p>
          <a:p>
            <a:pPr>
              <a:defRPr sz="2000"/>
            </a:pPr>
            <a:r>
              <a:t>A pooled entity-embedding LSTM that halves error vs. per-pair models</a:t>
            </a:r>
          </a:p>
          <a:p>
            <a:pPr>
              <a:defRPr sz="2000"/>
            </a:pPr>
            <a:r>
              <a:t>An anomaly detector validated against 3 real documented shocks</a:t>
            </a:r>
          </a:p>
          <a:p>
            <a:pPr>
              <a:defRPr sz="2000"/>
            </a:pPr>
            <a:r>
              <a:t>An honest, evidence-based account of what does and doesn't work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the reproducible end-to-end data pipeline</a:t>
            </a:r>
          </a:p>
          <a:p>
            <a:pPr>
              <a:defRPr sz="2000"/>
            </a:pPr>
            <a:r>
              <a:t>Ship a simple dashboard surfacing forecasts and alerts</a:t>
            </a:r>
          </a:p>
          <a:p>
            <a:pPr>
              <a:defRPr sz="2000"/>
            </a:pPr>
            <a:r>
              <a:t>Field-test anomaly thresholds with real stakeholder users</a:t>
            </a:r>
          </a:p>
          <a:p>
            <a:pPr>
              <a:defRPr sz="2000"/>
            </a:pPr>
            <a:r>
              <a:t>Extend to wholesale prices and revisit untested hypotheses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Questions &amp; Discussion</a:t>
            </a:r>
          </a:p>
          <a:p>
            <a:r>
              <a:t>Kenya Food Price Early Warning System — [Presenter Name] — [Contact / Email]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1977</Words>
  <Application>Microsoft Office PowerPoint</Application>
  <PresentationFormat>Custom</PresentationFormat>
  <Paragraphs>228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Trebuchet MS</vt:lpstr>
      <vt:lpstr>Wingdings 3</vt:lpstr>
      <vt:lpstr>Facet</vt:lpstr>
      <vt:lpstr>Kenya Food Price Early Warning System</vt:lpstr>
      <vt:lpstr>Agenda — CRISP-DM Structure</vt:lpstr>
      <vt:lpstr>The Problem</vt:lpstr>
      <vt:lpstr>Why It Matters</vt:lpstr>
      <vt:lpstr>Who This System Serves</vt:lpstr>
      <vt:lpstr>Business Objectives</vt:lpstr>
      <vt:lpstr>Business Success Criteria</vt:lpstr>
      <vt:lpstr>Hypotheses Guiding the Analysis</vt:lpstr>
      <vt:lpstr>The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Quality Summary</vt:lpstr>
      <vt:lpstr>Cleaning &amp; Scoping Decisions</vt:lpstr>
      <vt:lpstr>Building the Shortlist</vt:lpstr>
      <vt:lpstr>Handling Outliers</vt:lpstr>
      <vt:lpstr>Weather Integration &amp; the Real Lag Test</vt:lpstr>
      <vt:lpstr>Master Table &amp; Train/Validation/Test Split</vt:lpstr>
      <vt:lpstr>Modelling Approach</vt:lpstr>
      <vt:lpstr>PowerPoint Presentation</vt:lpstr>
      <vt:lpstr>Single-Series Results (Kitui Maize)</vt:lpstr>
      <vt:lpstr>At Scale: Pooled Entity-Embedding LSTM</vt:lpstr>
      <vt:lpstr>Model Selection at Scale</vt:lpstr>
      <vt:lpstr>Does Any Model Reliably Beat Naive?</vt:lpstr>
      <vt:lpstr>The Anomaly Detector Works</vt:lpstr>
      <vt:lpstr>PowerPoint Presentation</vt:lpstr>
      <vt:lpstr>Key Insights</vt:lpstr>
      <vt:lpstr>PowerPoint Presentation</vt:lpstr>
      <vt:lpstr>Recommendations</vt:lpstr>
      <vt:lpstr>Limitations</vt:lpstr>
      <vt:lpstr>Conclusion: What Was Achieved</vt:lpstr>
      <vt:lpstr>Next Steps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Food Price Early Warning System</dc:title>
  <dc:subject/>
  <dc:creator>SYSTEM ADM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2026-09-11T06:28:51Z</dcterms:modified>
  <cp:category/>
</cp:coreProperties>
</file>